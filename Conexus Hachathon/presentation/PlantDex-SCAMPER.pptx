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(~15 sec)
Good afternoon — we're Team Conexus, and our project is PlantDex.
For the EIT Food challenge on gamifying agricultural and biotech education, we built a working app that turns plant science into a game students actually want to play.
Let me start with the problem we set out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(~35 sec)
This was the EIT Food brief: how might we use game mechanics to make agricultural and biotech education more engaging, accessible and effective?
We saw three problems. First, the subject feels abstract — soil and plant science is names in a book, not things students notice in the world.
Second, attention lives in apps — TikTok, games — and lessons don't compete on that field.
Third, real hands-on field learning is hard to run and almost impossible to grade.
So we ran a structured ideation — and [Speaker 2] will show you what we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(~30 sec)
Our base idea is simple: turn the real world into the classroom.
A student points their phone at any plant. The app identifies the species with AI, shows the science and a world map of where it grows, and adds it to their personal collection — their 'Dex' — for points.
That's the core loop. But the real work was HOW we designed it — and for that we used a structured creativity method called SCAMPER.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(~25 sec)
SCAMPER stands for Substitute, Combine, Adapt, Modify, Put to another use, Eliminate, and Reverse.
We worked through each letter as a team to push past the obvious. Every feature you'll see came out of one of these prompts.
[Speaker 3] will walk you through what each one gave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(~35 sec)
Substitute: we replaced the passive parts of learning. Instead of memorising textbook photos, students scan real plants. Instead of waiting for a teacher to mark work, AI confirms it instantly. Instead of dry exams, quizzes give feedback the moment you answer.
Combine: this was our 'TikTok meets soil health' idea — we fused social-media engagement, streaks and profiles, directly onto biology content, and combined three tools into one app.
Adapt: we borrowed what already works — Kahoot's live quizzes, daily streaks, and collectible-game mechanics with rewards and achievements.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(~35 sec)
Modify: we magnified replay value — mock exams pull random questions, there are achievement tiers and a points economy, and teachers can add their own content.
Put to another use: this isn't only for students. Farmers can identify crops and weeds, schools can teach in practice, and anyone curious about a plant can use it.
Eliminate: we stripped out friction — a no-account guest mode, no jargon, and none of the cost or logistics of physical field trips.
Reverse: we flipped the classroom — students explore the field first and learn theory second, and the teacher becomes a mission-designer rather than a lecturer.
&gt;&gt;&gt; NOW PLAY THE 30-40 SECOND DEMO VIDEO. &lt;&lt;&lt;  Then hand to [Speaker 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(~25 sec) — after the video.
And that's not a mock-up — it's a working app you just saw running.
The four pillars from our ideation are all live: an AI field scanner, teacher-led missions with automatic grading, streaks and achievements that keep students coming back, and built-in Leaving Cert exam prep.
Every one of these came from a SCAMPER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(~25 sec)
When we asked 'who else could use this?', the answer was: almost anyone.
Students learn by doing. Teachers run and grade field lessons with no logistics. Farmers identify crops and weeds on demand. And local communities — clubs, training programmes — get a free way to build plant knowledge.
That directly serves EIT Food's mission: a more food-literate, sustainability-aware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(~25 sec)
So, back to the challenge's three words.
Engaging: streaks, collection and rewards make studying a daily habit. Accessible: it's free, needs no account, and runs on any phone. Effective: real AI, real Leaving Cert prep, and teacher-graded field evidence.
PlantDex turns every schoolyard into a living biology lab. Our next step is school pilots with the EIT Food network.
We're Team Conexus —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463040"/>
            <a:ext cx="3840480" cy="3840480"/>
          </a:xfrm>
          <a:prstGeom prst="ellipse">
            <a:avLst/>
          </a:prstGeom>
          <a:solidFill>
            <a:srgbClr val="4ADE8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3291840"/>
            <a:ext cx="3474720" cy="3474720"/>
          </a:xfrm>
          <a:prstGeom prst="ellipse">
            <a:avLst/>
          </a:prstGeom>
          <a:solidFill>
            <a:srgbClr val="4ADE8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041648" y="713232"/>
            <a:ext cx="1060704" cy="1060704"/>
          </a:xfrm>
          <a:prstGeom prst="roundRect">
            <a:avLst>
              <a:gd name="adj" fmla="val 28000"/>
            </a:avLst>
          </a:prstGeom>
          <a:solidFill>
            <a:srgbClr val="143323"/>
          </a:solidFill>
          <a:ln w="19050">
            <a:solidFill>
              <a:srgbClr val="2E5C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50786" y="1243584"/>
            <a:ext cx="47732" cy="360639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 rot="19800000">
            <a:off x="4179540" y="1095085"/>
            <a:ext cx="424282" cy="275783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 rot="1800000">
            <a:off x="4529572" y="967801"/>
            <a:ext cx="424282" cy="275783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PlantDex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Gamified, hands-on learning for agriculture &amp; biotech education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3520440"/>
            <a:ext cx="4206240" cy="566928"/>
          </a:xfrm>
          <a:prstGeom prst="roundRect">
            <a:avLst>
              <a:gd name="adj" fmla="val 19355"/>
            </a:avLst>
          </a:prstGeom>
          <a:solidFill>
            <a:srgbClr val="1C28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520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 Food  ·  Co-funded by the European Union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Conexus  ·  EU Enables Athens  ·  12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 ·  EIT FOOD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ag &amp; biotech education stick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might we use game mechanics to make agricultural and biotechnology education more engaging, accessible, and effective?"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33290F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30281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7673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feels abstract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5800" y="4078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&amp; soil science lives in textbooks — names to memorise, not things you see.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3260" y="2926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1860" y="3154680"/>
            <a:ext cx="548640" cy="548640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3" y="330281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1860" y="37673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elsewhere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451860" y="4078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Students' habits live in apps with streaks and rewards. Lessons rarely compete.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89320" y="2926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3154680"/>
            <a:ext cx="548640" cy="548640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330281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7673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learning is hard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217920" y="4078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outdoor learning is hard to organise, track and assess fairly.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real world into the classroom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C28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PlantDex  </a:t>
            </a:r>
            <a:pPr indent="0" marL="0">
              <a:buNone/>
            </a:pPr>
            <a:r>
              <a:rPr lang="en-US" sz="1400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students scan real plants, identify them with AI, collect every species they find, and learn the science behind them — earning points the whole way.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996" y="2834640"/>
            <a:ext cx="566928" cy="566928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067" y="298771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5204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3867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any plant, anywhere.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13432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97480" y="2606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51276" y="2834640"/>
            <a:ext cx="566928" cy="566928"/>
          </a:xfrm>
          <a:prstGeom prst="ellipse">
            <a:avLst/>
          </a:prstGeom>
          <a:solidFill>
            <a:srgbClr val="33290F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347" y="298771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07208" y="35204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34640" y="3867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returns the species instantly.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53712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937760" y="2606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91556" y="2834640"/>
            <a:ext cx="566928" cy="566928"/>
          </a:xfrm>
          <a:prstGeom prst="ellipse">
            <a:avLst/>
          </a:prstGeom>
          <a:solidFill>
            <a:srgbClr val="1A2738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627" y="2987711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47488" y="35204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074920" y="3867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and a live world range map.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793992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178040" y="2606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831836" y="2834640"/>
            <a:ext cx="566928" cy="566928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987284" y="2990088"/>
            <a:ext cx="105156" cy="105156"/>
          </a:xfrm>
          <a:prstGeom prst="roundRect">
            <a:avLst>
              <a:gd name="adj" fmla="val 26087"/>
            </a:avLst>
          </a:prstGeom>
          <a:solidFill>
            <a:srgbClr val="4ADE80"/>
          </a:solidFill>
          <a:ln/>
        </p:spPr>
      </p:sp>
      <p:sp>
        <p:nvSpPr>
          <p:cNvPr id="27" name="Shape 22"/>
          <p:cNvSpPr/>
          <p:nvPr/>
        </p:nvSpPr>
        <p:spPr>
          <a:xfrm>
            <a:off x="8138160" y="2990088"/>
            <a:ext cx="105156" cy="105156"/>
          </a:xfrm>
          <a:prstGeom prst="roundRect">
            <a:avLst>
              <a:gd name="adj" fmla="val 26087"/>
            </a:avLst>
          </a:prstGeom>
          <a:solidFill>
            <a:srgbClr val="4ADE80"/>
          </a:solidFill>
          <a:ln/>
        </p:spPr>
      </p:sp>
      <p:sp>
        <p:nvSpPr>
          <p:cNvPr id="28" name="Shape 23"/>
          <p:cNvSpPr/>
          <p:nvPr/>
        </p:nvSpPr>
        <p:spPr>
          <a:xfrm>
            <a:off x="7987284" y="3140964"/>
            <a:ext cx="105156" cy="105156"/>
          </a:xfrm>
          <a:prstGeom prst="roundRect">
            <a:avLst>
              <a:gd name="adj" fmla="val 26087"/>
            </a:avLst>
          </a:prstGeom>
          <a:solidFill>
            <a:srgbClr val="4ADE80"/>
          </a:solidFill>
          <a:ln/>
        </p:spPr>
      </p:sp>
      <p:sp>
        <p:nvSpPr>
          <p:cNvPr id="29" name="Shape 24"/>
          <p:cNvSpPr/>
          <p:nvPr/>
        </p:nvSpPr>
        <p:spPr>
          <a:xfrm>
            <a:off x="8138160" y="3140964"/>
            <a:ext cx="105156" cy="105156"/>
          </a:xfrm>
          <a:prstGeom prst="roundRect">
            <a:avLst>
              <a:gd name="adj" fmla="val 26087"/>
            </a:avLst>
          </a:prstGeom>
          <a:solidFill>
            <a:srgbClr val="4ADE80">
              <a:alpha val="45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7287768" y="35204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315200" y="3867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joins your growing Dex for points.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designed it with SCAMPER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creativity framework — we worked through every letter to reinvent how the subject is taught.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4944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680" dirty="0"/>
          </a:p>
        </p:txBody>
      </p:sp>
      <p:sp>
        <p:nvSpPr>
          <p:cNvPr id="7" name="Text 5"/>
          <p:cNvSpPr/>
          <p:nvPr/>
        </p:nvSpPr>
        <p:spPr>
          <a:xfrm>
            <a:off x="466344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47088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33290F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5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80" dirty="0"/>
          </a:p>
        </p:txBody>
      </p:sp>
      <p:sp>
        <p:nvSpPr>
          <p:cNvPr id="10" name="Text 8"/>
          <p:cNvSpPr/>
          <p:nvPr/>
        </p:nvSpPr>
        <p:spPr>
          <a:xfrm>
            <a:off x="1618488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9232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680" dirty="0"/>
          </a:p>
        </p:txBody>
      </p:sp>
      <p:sp>
        <p:nvSpPr>
          <p:cNvPr id="13" name="Text 11"/>
          <p:cNvSpPr/>
          <p:nvPr/>
        </p:nvSpPr>
        <p:spPr>
          <a:xfrm>
            <a:off x="2770632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51376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33290F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1376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5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680" dirty="0"/>
          </a:p>
        </p:txBody>
      </p:sp>
      <p:sp>
        <p:nvSpPr>
          <p:cNvPr id="16" name="Text 14"/>
          <p:cNvSpPr/>
          <p:nvPr/>
        </p:nvSpPr>
        <p:spPr>
          <a:xfrm>
            <a:off x="3922776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0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680" dirty="0"/>
          </a:p>
        </p:txBody>
      </p:sp>
      <p:sp>
        <p:nvSpPr>
          <p:cNvPr id="19" name="Text 17"/>
          <p:cNvSpPr/>
          <p:nvPr/>
        </p:nvSpPr>
        <p:spPr>
          <a:xfrm>
            <a:off x="5074920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to use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55664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1A2231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680" dirty="0"/>
          </a:p>
        </p:txBody>
      </p:sp>
      <p:sp>
        <p:nvSpPr>
          <p:cNvPr id="22" name="Text 20"/>
          <p:cNvSpPr/>
          <p:nvPr/>
        </p:nvSpPr>
        <p:spPr>
          <a:xfrm>
            <a:off x="6227064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07808" y="2148840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1A2231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21305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680" dirty="0"/>
          </a:p>
        </p:txBody>
      </p:sp>
      <p:sp>
        <p:nvSpPr>
          <p:cNvPr id="25" name="Text 23"/>
          <p:cNvSpPr/>
          <p:nvPr/>
        </p:nvSpPr>
        <p:spPr>
          <a:xfrm>
            <a:off x="7379208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1C28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 </a:t>
            </a:r>
            <a:pPr indent="0" marL="0">
              <a:buNone/>
            </a:pPr>
            <a:r>
              <a:rPr lang="en-US" sz="13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in PlantDex traces back to a deliberate SCAMPER decision — not a guess.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 · 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· Combine · Adapt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33272"/>
          </a:xfrm>
          <a:prstGeom prst="roundRect">
            <a:avLst>
              <a:gd name="adj" fmla="val 10619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90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80" dirty="0"/>
          </a:p>
        </p:txBody>
      </p:sp>
      <p:sp>
        <p:nvSpPr>
          <p:cNvPr id="7" name="Text 5"/>
          <p:cNvSpPr/>
          <p:nvPr/>
        </p:nvSpPr>
        <p:spPr>
          <a:xfrm>
            <a:off x="1508760" y="144475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· SUBSTITUTE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876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passive learning with active discovery.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975104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 → live plant scanning  ·  teacher marking → instant AI ID  ·  traditional exams → instant-feedback quizzes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8229600" cy="1033272"/>
          </a:xfrm>
          <a:prstGeom prst="roundRect">
            <a:avLst>
              <a:gd name="adj" fmla="val 10619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42616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33290F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24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5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80" dirty="0"/>
          </a:p>
        </p:txBody>
      </p:sp>
      <p:sp>
        <p:nvSpPr>
          <p:cNvPr id="13" name="Text 11"/>
          <p:cNvSpPr/>
          <p:nvPr/>
        </p:nvSpPr>
        <p:spPr>
          <a:xfrm>
            <a:off x="1508760" y="25786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COMBINE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27980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Social-media engagement meets biology.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10896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Streaks, profiles &amp; cosmetics fused with curriculum  ·  one app = field scanner + classroom tool + exam prep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8229600" cy="1033272"/>
          </a:xfrm>
          <a:prstGeom prst="roundRect">
            <a:avLst>
              <a:gd name="adj" fmla="val 10619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76472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58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80" dirty="0"/>
          </a:p>
        </p:txBody>
      </p:sp>
      <p:sp>
        <p:nvSpPr>
          <p:cNvPr id="19" name="Text 17"/>
          <p:cNvSpPr/>
          <p:nvPr/>
        </p:nvSpPr>
        <p:spPr>
          <a:xfrm>
            <a:off x="1508760" y="37124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ADAPT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08760" y="3931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mechanics students already love.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242816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Kahoot-style live quizzes with a join PIN  ·  daily streaks  ·  a collectible species “Dex”  ·  rewards &amp; achievements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 · 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· Put to use · Eliminate · Reverse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2704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33290F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3312" y="1508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5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· MODIFY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53312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replay value.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2020824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Randomised mock exams  ·  achievement tiers &amp; a points economy  ·  more topics, expandable by teachers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52704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13832" y="1508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· PUT TO ANOTHER USE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13832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far beyond one classroom.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13832" y="2020824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identifying crops &amp; weeds  ·  schools teaching in practice  ·  anyone curious about a plant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17296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1A2231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53312" y="3154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ELIMINATE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53312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friction.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3312" y="3666744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No-account guest mode  ·  no technical jargon, one-tap actions  ·  no field-trip logistics or paper grading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971800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317296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1A2231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13832" y="3154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· REVERSE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13832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classroom.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3666744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outside first, theory second  ·  teacher becomes a mission-designer  ·  assessment = gathering evidence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IDEAS TO A WORKING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 — a working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68880" cy="3429000"/>
          </a:xfrm>
          <a:prstGeom prst="roundRect">
            <a:avLst>
              <a:gd name="adj" fmla="val 4444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7160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344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PlantDex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6916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F2B22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901952"/>
            <a:ext cx="914400" cy="914400"/>
          </a:xfrm>
          <a:prstGeom prst="ellipse">
            <a:avLst/>
          </a:prstGeom>
          <a:solidFill>
            <a:srgbClr val="24332A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6232" y="2313432"/>
            <a:ext cx="41148" cy="38404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Shape 8"/>
          <p:cNvSpPr/>
          <p:nvPr/>
        </p:nvSpPr>
        <p:spPr>
          <a:xfrm rot="19920000">
            <a:off x="1545336" y="2249424"/>
            <a:ext cx="329184" cy="21031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Shape 9"/>
          <p:cNvSpPr/>
          <p:nvPr/>
        </p:nvSpPr>
        <p:spPr>
          <a:xfrm rot="1680000">
            <a:off x="1874520" y="2157984"/>
            <a:ext cx="329184" cy="210312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12" name="Shape 10"/>
          <p:cNvSpPr/>
          <p:nvPr/>
        </p:nvSpPr>
        <p:spPr>
          <a:xfrm>
            <a:off x="2267712" y="1801368"/>
            <a:ext cx="512064" cy="246888"/>
          </a:xfrm>
          <a:prstGeom prst="roundRect">
            <a:avLst>
              <a:gd name="adj" fmla="val 48148"/>
            </a:avLst>
          </a:prstGeom>
          <a:solidFill>
            <a:srgbClr val="0A140D"/>
          </a:solidFill>
          <a:ln w="9525">
            <a:solidFill>
              <a:srgbClr val="2E5C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801368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Oak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34440" y="35204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43323"/>
          </a:solidFill>
          <a:ln w="12700">
            <a:solidFill>
              <a:srgbClr val="2E5C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520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· +100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C28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4224528"/>
            <a:ext cx="420624" cy="237744"/>
          </a:xfrm>
          <a:prstGeom prst="roundRect">
            <a:avLst>
              <a:gd name="adj" fmla="val 50000"/>
            </a:avLst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4311396"/>
            <a:ext cx="64008" cy="64008"/>
          </a:xfrm>
          <a:prstGeom prst="ellipse">
            <a:avLst/>
          </a:prstGeom>
          <a:solidFill>
            <a:srgbClr val="6E7F72"/>
          </a:solidFill>
          <a:ln/>
        </p:spPr>
      </p:sp>
      <p:sp>
        <p:nvSpPr>
          <p:cNvPr id="20" name="Shape 18"/>
          <p:cNvSpPr/>
          <p:nvPr/>
        </p:nvSpPr>
        <p:spPr>
          <a:xfrm>
            <a:off x="1874520" y="4311396"/>
            <a:ext cx="64008" cy="64008"/>
          </a:xfrm>
          <a:prstGeom prst="ellipse">
            <a:avLst/>
          </a:prstGeom>
          <a:solidFill>
            <a:srgbClr val="6E7F72"/>
          </a:solidFill>
          <a:ln/>
        </p:spPr>
      </p:sp>
      <p:sp>
        <p:nvSpPr>
          <p:cNvPr id="21" name="Shape 19"/>
          <p:cNvSpPr/>
          <p:nvPr/>
        </p:nvSpPr>
        <p:spPr>
          <a:xfrm>
            <a:off x="2176272" y="4311396"/>
            <a:ext cx="64008" cy="64008"/>
          </a:xfrm>
          <a:prstGeom prst="ellipse">
            <a:avLst/>
          </a:prstGeom>
          <a:solidFill>
            <a:srgbClr val="6E7F72"/>
          </a:solidFill>
          <a:ln/>
        </p:spPr>
      </p:sp>
      <p:sp>
        <p:nvSpPr>
          <p:cNvPr id="22" name="Shape 20"/>
          <p:cNvSpPr/>
          <p:nvPr/>
        </p:nvSpPr>
        <p:spPr>
          <a:xfrm>
            <a:off x="2478024" y="4311396"/>
            <a:ext cx="64008" cy="64008"/>
          </a:xfrm>
          <a:prstGeom prst="ellipse">
            <a:avLst/>
          </a:prstGeom>
          <a:solidFill>
            <a:srgbClr val="6E7F72"/>
          </a:solidFill>
          <a:ln/>
        </p:spPr>
      </p:sp>
      <p:sp>
        <p:nvSpPr>
          <p:cNvPr id="23" name="Shape 21"/>
          <p:cNvSpPr/>
          <p:nvPr/>
        </p:nvSpPr>
        <p:spPr>
          <a:xfrm>
            <a:off x="3520440" y="1371600"/>
            <a:ext cx="512064" cy="512064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697" y="1509857"/>
            <a:ext cx="235549" cy="23554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206240" y="1353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field scanner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206240" y="16642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species ID with a confidence score and world range map.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520440" y="2212848"/>
            <a:ext cx="512064" cy="512064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697" y="2351105"/>
            <a:ext cx="235549" cy="23554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206240" y="2194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Teacher-led missions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4206240" y="25054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target plant; students submit photo evidence, graded automatically.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520440" y="3054096"/>
            <a:ext cx="512064" cy="512064"/>
          </a:xfrm>
          <a:prstGeom prst="ellipse">
            <a:avLst/>
          </a:prstGeom>
          <a:solidFill>
            <a:srgbClr val="33290F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697" y="3192353"/>
            <a:ext cx="235549" cy="23554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206240" y="30358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 &amp; achievements</a:t>
            </a:r>
            <a:endParaRPr lang="en-US" sz="1450" dirty="0"/>
          </a:p>
        </p:txBody>
      </p:sp>
      <p:sp>
        <p:nvSpPr>
          <p:cNvPr id="34" name="Text 29"/>
          <p:cNvSpPr/>
          <p:nvPr/>
        </p:nvSpPr>
        <p:spPr>
          <a:xfrm>
            <a:off x="4206240" y="33467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streak flame, a points economy and unlockable profile rewards.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520440" y="3895344"/>
            <a:ext cx="512064" cy="512064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697" y="4033601"/>
            <a:ext cx="235549" cy="235549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206240" y="38770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Cert prep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4206240" y="41879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Syllabus revision plus theory-test-style quizzes that pass at 80%.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TO ANOTHER USE  · 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many learners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1627632"/>
            <a:ext cx="603504" cy="603504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090" y="1790578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9572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" y="2761488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Discover, collect and revise — learning by doing in the real world.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137160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55264" y="1627632"/>
            <a:ext cx="603504" cy="603504"/>
          </a:xfrm>
          <a:prstGeom prst="ellipse">
            <a:avLst/>
          </a:prstGeom>
          <a:solidFill>
            <a:srgbClr val="33290F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210" y="179057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39572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24912" y="2761488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grade field lessons from a dashboard, with zero logistics.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58384" y="1627632"/>
            <a:ext cx="603504" cy="603504"/>
          </a:xfrm>
          <a:prstGeom prst="ellipse">
            <a:avLst/>
          </a:prstGeom>
          <a:solidFill>
            <a:srgbClr val="1A2738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330" y="1790578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39572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28032" y="2761488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crops, weeds and disease in the field — practical, on demand.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1371600"/>
            <a:ext cx="1993392" cy="2331720"/>
          </a:xfrm>
          <a:prstGeom prst="roundRect">
            <a:avLst>
              <a:gd name="adj" fmla="val 5505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61504" y="1627632"/>
            <a:ext cx="603504" cy="603504"/>
          </a:xfrm>
          <a:prstGeom prst="ellipse">
            <a:avLst/>
          </a:prstGeom>
          <a:solidFill>
            <a:srgbClr val="271A38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450" y="1790578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39572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31152" y="2761488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curious about a plant can learn — schools, clubs, training.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C28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EIT Food's mission:  </a:t>
            </a:r>
            <a:pPr indent="0" marL="0">
              <a:buNone/>
            </a:pPr>
            <a:r>
              <a:rPr lang="en-US" sz="130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more food-literate, sustainability-aware generation — starting in the schoolyard.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Engaging. Accessible. Effective.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1664208"/>
            <a:ext cx="640080" cy="640080"/>
          </a:xfrm>
          <a:prstGeom prst="ellipse">
            <a:avLst/>
          </a:prstGeom>
          <a:solidFill>
            <a:srgbClr val="33290F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722" y="183703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Streaks, collection and rewards turn study into a daily habit.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23260" y="141732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1664208"/>
            <a:ext cx="640080" cy="640080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183703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2326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5186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no-account guest mode, no jargon — works on any phone.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41732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151D17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18020" y="1664208"/>
            <a:ext cx="640080" cy="640080"/>
          </a:xfrm>
          <a:prstGeom prst="ellipse">
            <a:avLst/>
          </a:prstGeom>
          <a:solidFill>
            <a:srgbClr val="143323"/>
          </a:solidFill>
          <a:ln w="9525">
            <a:solidFill>
              <a:srgbClr val="2E5C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2" y="183703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1792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2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AI, real syllabus prep, teacher-graded evidence.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PlantDex turns every schoolyard into a living biology lab.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school pilots with the EIT Food network.   Thank you — Team Conexus.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PlantDex — EU Enables Athens 2026</dc:title>
  <dc:subject>PptxGenJS Presentation</dc:subject>
  <dc:creator>Team Conexus</dc:creator>
  <cp:lastModifiedBy>Team Conexus</cp:lastModifiedBy>
  <cp:revision>1</cp:revision>
  <dcterms:created xsi:type="dcterms:W3CDTF">2026-06-12T09:00:24Z</dcterms:created>
  <dcterms:modified xsi:type="dcterms:W3CDTF">2026-06-12T09:00:24Z</dcterms:modified>
</cp:coreProperties>
</file>